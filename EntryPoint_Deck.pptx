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400800" cy="64008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822960" cy="82296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5" name="Image 0" descr="/home/claude/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693115"/>
            <a:ext cx="625450" cy="625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ENTRYPOINT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Visa Document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 Platform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58368" y="416052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document analysis, readiness scoring, and human oversight — so travellers know exactly what's missing before they apply.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58368" y="5074920"/>
            <a:ext cx="201168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5257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TypeScript · FastAPI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· DeepSeek V4 Pro via Fireworks 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492240" cy="4754880"/>
          </a:xfrm>
          <a:prstGeom prst="roundRect">
            <a:avLst>
              <a:gd name="adj" fmla="val 1538"/>
            </a:avLst>
          </a:prstGeom>
          <a:solidFill>
            <a:srgbClr val="F5F7FC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830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icons/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684" y="1862084"/>
            <a:ext cx="500360" cy="500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7830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Travellers lack one integrated place to: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68680" y="2660904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249631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visa document requirements for their route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68680" y="3319272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315468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documents they already hold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68680" y="3977640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3813048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problems before travelling — not after rejection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68680" y="480060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gap costs time and money, and can contribute to unsafe or irregular migration when people cross borders without required documentation.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406640" y="1417320"/>
            <a:ext cx="4206240" cy="475488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EntryPoint's answer: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72400" y="228600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earlier, practical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 check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7772400" y="39776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applicants can prepare with confidence — before an application or border crossing.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EntryPoint · Global Visa Document Readiness Platform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EntryPoint Does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applicants and administrators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9584" cy="2148840"/>
          </a:xfrm>
          <a:prstGeom prst="roundRect">
            <a:avLst>
              <a:gd name="adj" fmla="val 3830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271" y="1896831"/>
            <a:ext cx="430865" cy="4308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14600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Applications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898648"/>
            <a:ext cx="30723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origin, destination, and visa type to load the correct checklist.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34256" y="1600200"/>
            <a:ext cx="3529584" cy="2148840"/>
          </a:xfrm>
          <a:prstGeom prst="roundRect">
            <a:avLst>
              <a:gd name="adj" fmla="val 3830"/>
            </a:avLst>
          </a:prstGeom>
          <a:solidFill>
            <a:srgbClr val="F5F7FC"/>
          </a:solidFill>
          <a:ln/>
        </p:spPr>
      </p:sp>
      <p:sp>
        <p:nvSpPr>
          <p:cNvPr id="10" name="Shape 7"/>
          <p:cNvSpPr/>
          <p:nvPr/>
        </p:nvSpPr>
        <p:spPr>
          <a:xfrm>
            <a:off x="4562856" y="18288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icons/up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887" y="1896831"/>
            <a:ext cx="430865" cy="4308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2856" y="2514600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OCR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62856" y="2898648"/>
            <a:ext cx="30723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documents; browser OCR extracts text on the spot.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19872" y="1600200"/>
            <a:ext cx="3529584" cy="2148840"/>
          </a:xfrm>
          <a:prstGeom prst="roundRect">
            <a:avLst>
              <a:gd name="adj" fmla="val 3830"/>
            </a:avLst>
          </a:prstGeom>
          <a:solidFill>
            <a:srgbClr val="F5F7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348472" y="18288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icons/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6503" y="1896831"/>
            <a:ext cx="430865" cy="4308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48472" y="2514600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 Analysis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48472" y="2898648"/>
            <a:ext cx="30723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classifies each document and flags issues or missing data.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005072"/>
            <a:ext cx="3529584" cy="2148840"/>
          </a:xfrm>
          <a:prstGeom prst="roundRect">
            <a:avLst>
              <a:gd name="adj" fmla="val 3830"/>
            </a:avLst>
          </a:prstGeom>
          <a:solidFill>
            <a:srgbClr val="F5F7FC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2336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icons/pi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271" y="4301703"/>
            <a:ext cx="430865" cy="4308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919472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Readiness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77240" y="5303520"/>
            <a:ext cx="30723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readiness score shows exactly what's passed, missing, or flagged.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34256" y="4005072"/>
            <a:ext cx="3529584" cy="2148840"/>
          </a:xfrm>
          <a:prstGeom prst="roundRect">
            <a:avLst>
              <a:gd name="adj" fmla="val 3830"/>
            </a:avLst>
          </a:prstGeom>
          <a:solidFill>
            <a:srgbClr val="F5F7FC"/>
          </a:solidFill>
          <a:ln/>
        </p:spPr>
      </p:sp>
      <p:sp>
        <p:nvSpPr>
          <p:cNvPr id="25" name="Shape 19"/>
          <p:cNvSpPr/>
          <p:nvPr/>
        </p:nvSpPr>
        <p:spPr>
          <a:xfrm>
            <a:off x="4562856" y="42336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icons/cha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0887" y="4301703"/>
            <a:ext cx="430865" cy="43086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62856" y="4919472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Help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62856" y="5303520"/>
            <a:ext cx="30723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query an advisor directly when the AI can't resolve something.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19872" y="4005072"/>
            <a:ext cx="3529584" cy="2148840"/>
          </a:xfrm>
          <a:prstGeom prst="roundRect">
            <a:avLst>
              <a:gd name="adj" fmla="val 3830"/>
            </a:avLst>
          </a:prstGeom>
          <a:solidFill>
            <a:srgbClr val="F5F7FC"/>
          </a:solidFill>
          <a:ln/>
        </p:spPr>
      </p:sp>
      <p:sp>
        <p:nvSpPr>
          <p:cNvPr id="30" name="Shape 23"/>
          <p:cNvSpPr/>
          <p:nvPr/>
        </p:nvSpPr>
        <p:spPr>
          <a:xfrm>
            <a:off x="8348472" y="42336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6503" y="4301703"/>
            <a:ext cx="430865" cy="43086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48472" y="4919472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Oversight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48472" y="5303520"/>
            <a:ext cx="30723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manage requirements and resolve applicant queries.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EntryPoint · Global Visa Document Readiness Platform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country selection to a saved AI-scored readiness result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0" cy="201168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234440" y="149047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selects origin, destination, and visa type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2624328"/>
            <a:ext cx="0" cy="201168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1234440" y="21488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loads the matching visa checklist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825496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25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3282696"/>
            <a:ext cx="0" cy="201168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234440" y="280720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OCR (Tesseract.js / PDF.js) reads documents before upload; server OCR is a fallback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483864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483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77240" y="3941064"/>
            <a:ext cx="0" cy="201168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1234440" y="34655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stores application records, document metadata, OCR text, and files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142232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77240" y="4599432"/>
            <a:ext cx="0" cy="201168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1234440" y="4123944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sends extracted text to DeepSeek V4 Pro via Fireworks AI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77240" y="5257800"/>
            <a:ext cx="0" cy="201168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234440" y="478231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classifies each document — confidence, validity, extracted details, issues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5458968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458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34440" y="54406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summary, and classification are saved so progress persists on return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EntryPoint · Global Visa Document Readiness Platform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Hood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and technologies powering EntryPoint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754880"/>
        </p:xfrm>
        <a:graphic>
          <a:graphicData uri="http://schemas.openxmlformats.org/drawingml/2006/table">
            <a:tbl>
              <a:tblPr/>
              <a:tblGrid>
                <a:gridCol w="1828800"/>
                <a:gridCol w="4023360"/>
                <a:gridCol w="52120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/ Technology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app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React, TypeScript, Vite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Applicant and administrator interface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 CSS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Responsive UI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Tesseract.js, PDF.js, Tesseract, Pillow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and server text extraction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Python, FastAPI, Uvicorn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Application, document, analysis, query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V4 Pro via Fireworks 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classification and analysis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PostgreSQL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Users, applications, requirements, queries, AI results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storage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Storage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Uploaded document files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bcrypt, custom tokens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Applicant and administrator 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AMD Cloud, Docker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runtime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EntryPoint · Global Visa Document Readiness Platform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&amp; Instant Demos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Frictionless entry for applicants and judges alike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38528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78308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email/password sign-in with registration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250545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350008"/>
            <a:ext cx="5440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Admin Demo — view all applications, manage requirements, reply to queries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3300984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145536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User Demo — experience the applicant journey instantly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3867912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712464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barrier of account setup for evaluation and onboarding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73690" y="1559052"/>
            <a:ext cx="2694339" cy="4745736"/>
          </a:xfrm>
          <a:prstGeom prst="roundRect">
            <a:avLst>
              <a:gd name="adj" fmla="val 5430"/>
            </a:avLst>
          </a:prstGeom>
          <a:solidFill>
            <a:srgbClr val="141B4D"/>
          </a:solidFill>
          <a:ln w="12700">
            <a:solidFill>
              <a:srgbClr val="0A0E2E"/>
            </a:solidFill>
            <a:prstDash val="solid"/>
          </a:ln>
          <a:effectLst>
            <a:outerShdw sx="100000" sy="100000" kx="0" ky="0" algn="bl" rotWithShape="0" blurRad="127000" dist="50800" dir="5400000">
              <a:srgbClr val="1A1A2E">
                <a:alpha val="35000"/>
              </a:srgbClr>
            </a:outerShdw>
          </a:effectLst>
        </p:spPr>
      </p:sp>
      <p:pic>
        <p:nvPicPr>
          <p:cNvPr id="14" name="Image 0" descr="/mnt/user-data/uploads/Screenshot_2026-07-12_18555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7698" y="1623060"/>
            <a:ext cx="2566323" cy="46177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EntryPoint · Global Visa Document Readiness Platform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Applicant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application and its live readiness score, at a glance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38528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78308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all of the applicant's visa applications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250545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350008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route (origin → destination), visa type, and submission status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3072384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916936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 progress bar per application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3639312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483864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to start a New Application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73690" y="1559052"/>
            <a:ext cx="2694339" cy="4745736"/>
          </a:xfrm>
          <a:prstGeom prst="roundRect">
            <a:avLst>
              <a:gd name="adj" fmla="val 5430"/>
            </a:avLst>
          </a:prstGeom>
          <a:solidFill>
            <a:srgbClr val="141B4D"/>
          </a:solidFill>
          <a:ln w="12700">
            <a:solidFill>
              <a:srgbClr val="0A0E2E"/>
            </a:solidFill>
            <a:prstDash val="solid"/>
          </a:ln>
          <a:effectLst>
            <a:outerShdw sx="100000" sy="100000" kx="0" ky="0" algn="bl" rotWithShape="0" blurRad="127000" dist="50800" dir="5400000">
              <a:srgbClr val="1A1A2E">
                <a:alpha val="35000"/>
              </a:srgbClr>
            </a:outerShdw>
          </a:effectLst>
        </p:spPr>
      </p:sp>
      <p:pic>
        <p:nvPicPr>
          <p:cNvPr id="14" name="Image 0" descr="/mnt/user-data/uploads/Screenshot_2026-07-12_1856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7698" y="1623060"/>
            <a:ext cx="2566323" cy="46177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EntryPoint · Global Visa Document Readiness Platform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Application Wizard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Origin, destination, and visa type drive the whole checklist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38528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78308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2: searchable origin and destination country pickers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250545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350008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type selector — Tourist, Work, Study, Permanent Residence, Asylum Seeker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3072384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916936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Selections determine which requirements load next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3639312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483864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progress indicator keeps the applicant oriented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571232" y="2206405"/>
            <a:ext cx="1941110" cy="3451031"/>
          </a:xfrm>
          <a:prstGeom prst="roundRect">
            <a:avLst>
              <a:gd name="adj" fmla="val 7537"/>
            </a:avLst>
          </a:prstGeom>
          <a:solidFill>
            <a:srgbClr val="141B4D"/>
          </a:solidFill>
          <a:ln w="12700">
            <a:solidFill>
              <a:srgbClr val="0A0E2E"/>
            </a:solidFill>
            <a:prstDash val="solid"/>
          </a:ln>
          <a:effectLst>
            <a:outerShdw sx="100000" sy="100000" kx="0" ky="0" algn="bl" rotWithShape="0" blurRad="127000" dist="50800" dir="5400000">
              <a:srgbClr val="1A1A2E">
                <a:alpha val="35000"/>
              </a:srgbClr>
            </a:outerShdw>
          </a:effectLst>
        </p:spPr>
      </p:sp>
      <p:pic>
        <p:nvPicPr>
          <p:cNvPr id="14" name="Image 0" descr="/mnt/user-data/uploads/Screenshot_2026-07-12_1857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270413"/>
            <a:ext cx="1813094" cy="3323015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9704366" y="2206405"/>
            <a:ext cx="1838105" cy="3451031"/>
          </a:xfrm>
          <a:prstGeom prst="roundRect">
            <a:avLst>
              <a:gd name="adj" fmla="val 7960"/>
            </a:avLst>
          </a:prstGeom>
          <a:solidFill>
            <a:srgbClr val="141B4D"/>
          </a:solidFill>
          <a:ln w="12700">
            <a:solidFill>
              <a:srgbClr val="0A0E2E"/>
            </a:solidFill>
            <a:prstDash val="solid"/>
          </a:ln>
          <a:effectLst>
            <a:outerShdw sx="100000" sy="100000" kx="0" ky="0" algn="bl" rotWithShape="0" blurRad="127000" dist="50800" dir="5400000">
              <a:srgbClr val="1A1A2E">
                <a:alpha val="35000"/>
              </a:srgbClr>
            </a:outerShdw>
          </a:effectLst>
        </p:spPr>
      </p:sp>
      <p:pic>
        <p:nvPicPr>
          <p:cNvPr id="16" name="Image 1" descr="/mnt/user-data/uploads/Screenshot_2026-07-12_18595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374" y="2270413"/>
            <a:ext cx="1710089" cy="332301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EntryPoint · Global Visa Document Readiness Platform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&amp; Readiness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checklist tailored to the applicant's route and visa type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38528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78308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 starts at 0% and updates as documents are analysed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250545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350008"/>
            <a:ext cx="5440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requirement listed — passport, application form, photo, sponsorship letter, and more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3300984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145536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items are flagged clearly in red until resolved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3867912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712464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in-app query box lets applicants ask an advisor questions directly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571232" y="2782037"/>
            <a:ext cx="1304039" cy="2299766"/>
          </a:xfrm>
          <a:prstGeom prst="roundRect">
            <a:avLst>
              <a:gd name="adj" fmla="val 11219"/>
            </a:avLst>
          </a:prstGeom>
          <a:solidFill>
            <a:srgbClr val="141B4D"/>
          </a:solidFill>
          <a:ln w="12700">
            <a:solidFill>
              <a:srgbClr val="0A0E2E"/>
            </a:solidFill>
            <a:prstDash val="solid"/>
          </a:ln>
          <a:effectLst>
            <a:outerShdw sx="100000" sy="100000" kx="0" ky="0" algn="bl" rotWithShape="0" blurRad="127000" dist="50800" dir="5400000">
              <a:srgbClr val="1A1A2E">
                <a:alpha val="35000"/>
              </a:srgbClr>
            </a:outerShdw>
          </a:effectLst>
        </p:spPr>
      </p:sp>
      <p:pic>
        <p:nvPicPr>
          <p:cNvPr id="14" name="Image 0" descr="/mnt/user-data/uploads/Screenshot_2026-07-12_1901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846045"/>
            <a:ext cx="1176023" cy="217175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9067295" y="2782037"/>
            <a:ext cx="2475176" cy="2299766"/>
          </a:xfrm>
          <a:prstGeom prst="roundRect">
            <a:avLst>
              <a:gd name="adj" fmla="val 6362"/>
            </a:avLst>
          </a:prstGeom>
          <a:solidFill>
            <a:srgbClr val="141B4D"/>
          </a:solidFill>
          <a:ln w="12700">
            <a:solidFill>
              <a:srgbClr val="0A0E2E"/>
            </a:solidFill>
            <a:prstDash val="solid"/>
          </a:ln>
          <a:effectLst>
            <a:outerShdw sx="100000" sy="100000" kx="0" ky="0" algn="bl" rotWithShape="0" blurRad="127000" dist="50800" dir="5400000">
              <a:srgbClr val="1A1A2E">
                <a:alpha val="35000"/>
              </a:srgbClr>
            </a:outerShdw>
          </a:effectLst>
        </p:spPr>
      </p:sp>
      <p:pic>
        <p:nvPicPr>
          <p:cNvPr id="16" name="Image 1" descr="/mnt/user-data/uploads/Screenshot_2026-07-12_19022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1303" y="2846045"/>
            <a:ext cx="2347160" cy="217175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EntryPoint · Global Visa Document Readiness Platform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&amp; Browser-Side OCR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read before they ever reach the server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38528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78308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or multi-file selection — PDF, JPG, PNG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250545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350008"/>
            <a:ext cx="5440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Tesseract.js/PDF.js extracts text in the browser, shown as a live OCR confidence % per file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3300984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145536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auto-classifies and matches each file to the right requirement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3867912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712464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can review and remove files before committing the upload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834179" y="1559052"/>
            <a:ext cx="3573361" cy="4745736"/>
          </a:xfrm>
          <a:prstGeom prst="roundRect">
            <a:avLst>
              <a:gd name="adj" fmla="val 4094"/>
            </a:avLst>
          </a:prstGeom>
          <a:solidFill>
            <a:srgbClr val="141B4D"/>
          </a:solidFill>
          <a:ln w="12700">
            <a:solidFill>
              <a:srgbClr val="0A0E2E"/>
            </a:solidFill>
            <a:prstDash val="solid"/>
          </a:ln>
          <a:effectLst>
            <a:outerShdw sx="100000" sy="100000" kx="0" ky="0" algn="bl" rotWithShape="0" blurRad="127000" dist="50800" dir="5400000">
              <a:srgbClr val="1A1A2E">
                <a:alpha val="35000"/>
              </a:srgbClr>
            </a:outerShdw>
          </a:effectLst>
        </p:spPr>
      </p:sp>
      <p:pic>
        <p:nvPicPr>
          <p:cNvPr id="14" name="Image 0" descr="/mnt/user-data/uploads/Screenshot_2026-07-12_1906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8187" y="1623060"/>
            <a:ext cx="3445345" cy="46177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EntryPoint · Global Visa Document Readiness Platform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Document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V4 Pro scores every document, not just a pass/fail flag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38528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78308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 recalculates after analysis — passed / issues / missing counts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250545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350008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Per-document verdicts with a confidence percentage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3072384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916936"/>
            <a:ext cx="5440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actionable issues — e.g. wrong document type, missing passport number, missing dates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3867912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712464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plain-language summary of what's still needed to reach full readiness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337077" y="1559052"/>
            <a:ext cx="2567566" cy="4745736"/>
          </a:xfrm>
          <a:prstGeom prst="roundRect">
            <a:avLst>
              <a:gd name="adj" fmla="val 5698"/>
            </a:avLst>
          </a:prstGeom>
          <a:solidFill>
            <a:srgbClr val="141B4D"/>
          </a:solidFill>
          <a:ln w="12700">
            <a:solidFill>
              <a:srgbClr val="0A0E2E"/>
            </a:solidFill>
            <a:prstDash val="solid"/>
          </a:ln>
          <a:effectLst>
            <a:outerShdw sx="100000" sy="100000" kx="0" ky="0" algn="bl" rotWithShape="0" blurRad="127000" dist="50800" dir="5400000">
              <a:srgbClr val="1A1A2E">
                <a:alpha val="35000"/>
              </a:srgbClr>
            </a:outerShdw>
          </a:effectLst>
        </p:spPr>
      </p:sp>
      <p:pic>
        <p:nvPicPr>
          <p:cNvPr id="14" name="Image 0" descr="/mnt/user-data/uploads/Screenshot_2026-07-12_1915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1085" y="1623060"/>
            <a:ext cx="2439550" cy="46177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EntryPoint · Global Visa Document Readiness Platform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Matching &amp; Applicant Queries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checklist item links to its matched file — and a direct line to an advisor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38528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78308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requirements show a green check and the linked filename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250545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350008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Still-missing requirements stay flagged in red for quick follow-up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3072384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916936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can ask a free-text question about their application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3639312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483864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are timestamped and routed straight to the admin queue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571232" y="3259650"/>
            <a:ext cx="1456835" cy="1344541"/>
          </a:xfrm>
          <a:prstGeom prst="roundRect">
            <a:avLst>
              <a:gd name="adj" fmla="val 10881"/>
            </a:avLst>
          </a:prstGeom>
          <a:solidFill>
            <a:srgbClr val="141B4D"/>
          </a:solidFill>
          <a:ln w="12700">
            <a:solidFill>
              <a:srgbClr val="0A0E2E"/>
            </a:solidFill>
            <a:prstDash val="solid"/>
          </a:ln>
          <a:effectLst>
            <a:outerShdw sx="100000" sy="100000" kx="0" ky="0" algn="bl" rotWithShape="0" blurRad="127000" dist="50800" dir="5400000">
              <a:srgbClr val="1A1A2E">
                <a:alpha val="35000"/>
              </a:srgbClr>
            </a:outerShdw>
          </a:effectLst>
        </p:spPr>
      </p:sp>
      <p:pic>
        <p:nvPicPr>
          <p:cNvPr id="14" name="Image 0" descr="/mnt/user-data/uploads/Screenshot_2026-07-12_1920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3323658"/>
            <a:ext cx="1328819" cy="1216525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9220091" y="3259650"/>
            <a:ext cx="2322380" cy="1344541"/>
          </a:xfrm>
          <a:prstGeom prst="roundRect">
            <a:avLst>
              <a:gd name="adj" fmla="val 10881"/>
            </a:avLst>
          </a:prstGeom>
          <a:solidFill>
            <a:srgbClr val="141B4D"/>
          </a:solidFill>
          <a:ln w="12700">
            <a:solidFill>
              <a:srgbClr val="0A0E2E"/>
            </a:solidFill>
            <a:prstDash val="solid"/>
          </a:ln>
          <a:effectLst>
            <a:outerShdw sx="100000" sy="100000" kx="0" ky="0" algn="bl" rotWithShape="0" blurRad="127000" dist="50800" dir="5400000">
              <a:srgbClr val="1A1A2E">
                <a:alpha val="35000"/>
              </a:srgbClr>
            </a:outerShdw>
          </a:effectLst>
        </p:spPr>
      </p:sp>
      <p:pic>
        <p:nvPicPr>
          <p:cNvPr id="16" name="Image 1" descr="/mnt/user-data/uploads/Screenshot_2026-07-12_19251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4099" y="3323658"/>
            <a:ext cx="2194364" cy="121652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EntryPoint · Global Visa Document Readiness Platform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Panel: Human Oversight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visa decisions deserve a person, not just a model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38528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78308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Unanswered applicant queries surfaced with route and timestamp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250545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350008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reply directly, resolving the query in place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3072384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916936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are fully manageable per visa type — add, edit, delete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3639312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483864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scope can target specific countries or apply to all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571232" y="2743698"/>
            <a:ext cx="2250294" cy="2376444"/>
          </a:xfrm>
          <a:prstGeom prst="roundRect">
            <a:avLst>
              <a:gd name="adj" fmla="val 6502"/>
            </a:avLst>
          </a:prstGeom>
          <a:solidFill>
            <a:srgbClr val="141B4D"/>
          </a:solidFill>
          <a:ln w="12700">
            <a:solidFill>
              <a:srgbClr val="0A0E2E"/>
            </a:solidFill>
            <a:prstDash val="solid"/>
          </a:ln>
          <a:effectLst>
            <a:outerShdw sx="100000" sy="100000" kx="0" ky="0" algn="bl" rotWithShape="0" blurRad="127000" dist="50800" dir="5400000">
              <a:srgbClr val="1A1A2E">
                <a:alpha val="35000"/>
              </a:srgbClr>
            </a:outerShdw>
          </a:effectLst>
        </p:spPr>
      </p:sp>
      <p:pic>
        <p:nvPicPr>
          <p:cNvPr id="14" name="Image 0" descr="/mnt/user-data/uploads/Screenshot_2026-07-12_1926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807706"/>
            <a:ext cx="2122278" cy="2248428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0013550" y="2743698"/>
            <a:ext cx="1528921" cy="2376444"/>
          </a:xfrm>
          <a:prstGeom prst="roundRect">
            <a:avLst>
              <a:gd name="adj" fmla="val 9569"/>
            </a:avLst>
          </a:prstGeom>
          <a:solidFill>
            <a:srgbClr val="141B4D"/>
          </a:solidFill>
          <a:ln w="12700">
            <a:solidFill>
              <a:srgbClr val="0A0E2E"/>
            </a:solidFill>
            <a:prstDash val="solid"/>
          </a:ln>
          <a:effectLst>
            <a:outerShdw sx="100000" sy="100000" kx="0" ky="0" algn="bl" rotWithShape="0" blurRad="127000" dist="50800" dir="5400000">
              <a:srgbClr val="1A1A2E">
                <a:alpha val="35000"/>
              </a:srgbClr>
            </a:outerShdw>
          </a:effectLst>
        </p:spPr>
      </p:sp>
      <p:pic>
        <p:nvPicPr>
          <p:cNvPr id="16" name="Image 1" descr="/mnt/user-data/uploads/Screenshot_2026-07-12_19264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7558" y="2807706"/>
            <a:ext cx="1400905" cy="224842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EntryPoint · Global Visa Document Readiness Platform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With Human Oversight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shows its confidence, not just an answer — anything uncertain routes to a person before it affects a real application.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14600" cy="1508760"/>
          </a:xfrm>
          <a:prstGeom prst="roundRect">
            <a:avLst>
              <a:gd name="adj" fmla="val 5455"/>
            </a:avLst>
          </a:prstGeom>
          <a:solidFill>
            <a:srgbClr val="141B4D"/>
          </a:solidFill>
          <a:ln/>
        </p:spPr>
      </p:sp>
      <p:sp>
        <p:nvSpPr>
          <p:cNvPr id="6" name="Shape 4"/>
          <p:cNvSpPr/>
          <p:nvPr/>
        </p:nvSpPr>
        <p:spPr>
          <a:xfrm>
            <a:off x="1513332" y="2532888"/>
            <a:ext cx="585216" cy="585216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7" name="Image 0" descr="/home/claude/icons/p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3558" y="2603114"/>
            <a:ext cx="444764" cy="4447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278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19272" y="2331720"/>
            <a:ext cx="2514600" cy="1508760"/>
          </a:xfrm>
          <a:prstGeom prst="roundRect">
            <a:avLst>
              <a:gd name="adj" fmla="val 5455"/>
            </a:avLst>
          </a:prstGeom>
          <a:solidFill>
            <a:srgbClr val="141B4D"/>
          </a:solidFill>
          <a:ln/>
        </p:spPr>
      </p:sp>
      <p:sp>
        <p:nvSpPr>
          <p:cNvPr id="10" name="Shape 7"/>
          <p:cNvSpPr/>
          <p:nvPr/>
        </p:nvSpPr>
        <p:spPr>
          <a:xfrm>
            <a:off x="4283964" y="2532888"/>
            <a:ext cx="585216" cy="585216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1" name="Image 1" descr="/home/claude/icons/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190" y="2603114"/>
            <a:ext cx="444764" cy="4447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10712" y="32278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Mgmt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089904" y="2331720"/>
            <a:ext cx="2514600" cy="1508760"/>
          </a:xfrm>
          <a:prstGeom prst="roundRect">
            <a:avLst>
              <a:gd name="adj" fmla="val 5455"/>
            </a:avLst>
          </a:prstGeom>
          <a:solidFill>
            <a:srgbClr val="141B4D"/>
          </a:solidFill>
          <a:ln/>
        </p:spPr>
      </p:sp>
      <p:sp>
        <p:nvSpPr>
          <p:cNvPr id="14" name="Shape 10"/>
          <p:cNvSpPr/>
          <p:nvPr/>
        </p:nvSpPr>
        <p:spPr>
          <a:xfrm>
            <a:off x="7054596" y="2532888"/>
            <a:ext cx="585216" cy="585216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5" name="Image 2" descr="/home/claude/icons/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822" y="2603114"/>
            <a:ext cx="444764" cy="4447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81344" y="32278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Validation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860536" y="2331720"/>
            <a:ext cx="2514600" cy="1508760"/>
          </a:xfrm>
          <a:prstGeom prst="roundRect">
            <a:avLst>
              <a:gd name="adj" fmla="val 5455"/>
            </a:avLst>
          </a:prstGeom>
          <a:solidFill>
            <a:srgbClr val="141B4D"/>
          </a:solidFill>
          <a:ln/>
        </p:spPr>
      </p:sp>
      <p:sp>
        <p:nvSpPr>
          <p:cNvPr id="18" name="Shape 13"/>
          <p:cNvSpPr/>
          <p:nvPr/>
        </p:nvSpPr>
        <p:spPr>
          <a:xfrm>
            <a:off x="9825228" y="2532888"/>
            <a:ext cx="585216" cy="585216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9" name="Image 3" descr="/home/claude/icons/activit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5454" y="2603114"/>
            <a:ext cx="444764" cy="4447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51976" y="32278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48640" y="4114800"/>
            <a:ext cx="2514600" cy="1508760"/>
          </a:xfrm>
          <a:prstGeom prst="roundRect">
            <a:avLst>
              <a:gd name="adj" fmla="val 5455"/>
            </a:avLst>
          </a:prstGeom>
          <a:solidFill>
            <a:srgbClr val="141B4D"/>
          </a:solidFill>
          <a:ln/>
        </p:spPr>
      </p:sp>
      <p:sp>
        <p:nvSpPr>
          <p:cNvPr id="22" name="Shape 16"/>
          <p:cNvSpPr/>
          <p:nvPr/>
        </p:nvSpPr>
        <p:spPr>
          <a:xfrm>
            <a:off x="1513332" y="4315968"/>
            <a:ext cx="585216" cy="585216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23" name="Image 4" descr="/home/claude/icons/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3558" y="4386194"/>
            <a:ext cx="444764" cy="44476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0080" y="50109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3319272" y="4114800"/>
            <a:ext cx="2514600" cy="1508760"/>
          </a:xfrm>
          <a:prstGeom prst="roundRect">
            <a:avLst>
              <a:gd name="adj" fmla="val 5455"/>
            </a:avLst>
          </a:prstGeom>
          <a:solidFill>
            <a:srgbClr val="141B4D"/>
          </a:solidFill>
          <a:ln/>
        </p:spPr>
      </p:sp>
      <p:sp>
        <p:nvSpPr>
          <p:cNvPr id="26" name="Shape 19"/>
          <p:cNvSpPr/>
          <p:nvPr/>
        </p:nvSpPr>
        <p:spPr>
          <a:xfrm>
            <a:off x="4283964" y="4315968"/>
            <a:ext cx="585216" cy="585216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27" name="Image 5" descr="/home/claude/icons/targ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4190" y="4386194"/>
            <a:ext cx="444764" cy="44476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410712" y="50109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6089904" y="4114800"/>
            <a:ext cx="2514600" cy="1508760"/>
          </a:xfrm>
          <a:prstGeom prst="roundRect">
            <a:avLst>
              <a:gd name="adj" fmla="val 5455"/>
            </a:avLst>
          </a:prstGeom>
          <a:solidFill>
            <a:srgbClr val="141B4D"/>
          </a:solidFill>
          <a:ln/>
        </p:spPr>
      </p:sp>
      <p:sp>
        <p:nvSpPr>
          <p:cNvPr id="30" name="Shape 22"/>
          <p:cNvSpPr/>
          <p:nvPr/>
        </p:nvSpPr>
        <p:spPr>
          <a:xfrm>
            <a:off x="7054596" y="4315968"/>
            <a:ext cx="585216" cy="585216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31" name="Image 6" descr="/home/claude/icons/shie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4822" y="4386194"/>
            <a:ext cx="444764" cy="44476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181344" y="50109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250" dirty="0"/>
          </a:p>
        </p:txBody>
      </p:sp>
      <p:sp>
        <p:nvSpPr>
          <p:cNvPr id="33" name="Shape 24"/>
          <p:cNvSpPr/>
          <p:nvPr/>
        </p:nvSpPr>
        <p:spPr>
          <a:xfrm>
            <a:off x="8860536" y="4114800"/>
            <a:ext cx="2514600" cy="1508760"/>
          </a:xfrm>
          <a:prstGeom prst="roundRect">
            <a:avLst>
              <a:gd name="adj" fmla="val 5455"/>
            </a:avLst>
          </a:prstGeom>
          <a:solidFill>
            <a:srgbClr val="141B4D"/>
          </a:solidFill>
          <a:ln/>
        </p:spPr>
      </p:sp>
      <p:sp>
        <p:nvSpPr>
          <p:cNvPr id="34" name="Shape 25"/>
          <p:cNvSpPr/>
          <p:nvPr/>
        </p:nvSpPr>
        <p:spPr>
          <a:xfrm>
            <a:off x="9825228" y="4315968"/>
            <a:ext cx="585216" cy="585216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35" name="Image 7" descr="/home/claude/icons/cha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5454" y="4386194"/>
            <a:ext cx="444764" cy="444764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8951976" y="50109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250" dirty="0"/>
          </a:p>
        </p:txBody>
      </p:sp>
      <p:sp>
        <p:nvSpPr>
          <p:cNvPr id="37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EntryPoint · Global Visa Document Readiness Platform</a:t>
            </a:r>
            <a:endParaRPr lang="en-US" sz="1000" dirty="0"/>
          </a:p>
        </p:txBody>
      </p:sp>
      <p:sp>
        <p:nvSpPr>
          <p:cNvPr id="38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2026-07-12T17:38:43Z</dcterms:created>
  <dcterms:modified xsi:type="dcterms:W3CDTF">2026-07-12T17:38:43Z</dcterms:modified>
</cp:coreProperties>
</file>